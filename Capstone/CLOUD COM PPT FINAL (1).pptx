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22"/>
  </p:notesMasterIdLst>
  <p:sldIdLst>
    <p:sldId id="274" r:id="rId2"/>
    <p:sldId id="257" r:id="rId3"/>
    <p:sldId id="312" r:id="rId4"/>
    <p:sldId id="296" r:id="rId5"/>
    <p:sldId id="313" r:id="rId6"/>
    <p:sldId id="291" r:id="rId7"/>
    <p:sldId id="311" r:id="rId8"/>
    <p:sldId id="314" r:id="rId9"/>
    <p:sldId id="315" r:id="rId10"/>
    <p:sldId id="316" r:id="rId11"/>
    <p:sldId id="317" r:id="rId12"/>
    <p:sldId id="318" r:id="rId13"/>
    <p:sldId id="319" r:id="rId14"/>
    <p:sldId id="307" r:id="rId15"/>
    <p:sldId id="310" r:id="rId16"/>
    <p:sldId id="309" r:id="rId17"/>
    <p:sldId id="304" r:id="rId18"/>
    <p:sldId id="258" r:id="rId19"/>
    <p:sldId id="306" r:id="rId20"/>
    <p:sldId id="28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5E74F77-1A56-43CD-A8FF-82B4393E1D89}">
          <p14:sldIdLst>
            <p14:sldId id="274"/>
            <p14:sldId id="257"/>
            <p14:sldId id="312"/>
            <p14:sldId id="296"/>
            <p14:sldId id="313"/>
            <p14:sldId id="291"/>
            <p14:sldId id="311"/>
            <p14:sldId id="314"/>
            <p14:sldId id="315"/>
            <p14:sldId id="316"/>
            <p14:sldId id="317"/>
            <p14:sldId id="318"/>
            <p14:sldId id="319"/>
            <p14:sldId id="307"/>
            <p14:sldId id="310"/>
            <p14:sldId id="309"/>
            <p14:sldId id="304"/>
            <p14:sldId id="258"/>
            <p14:sldId id="306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857"/>
    <a:srgbClr val="BAC4E8"/>
    <a:srgbClr val="CBC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E3B036-E661-4E61-A631-C6ACBCE67D81}" v="3" dt="2026-06-23T10:09:19.2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92C09B-E972-4080-8890-842FEDD1ECA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B956C-8DA6-486D-A534-7AFEE9D58BC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B956C-8DA6-486D-A534-7AFEE9D58BC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869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A8981-F68E-C618-EFE1-83F57496A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293267-1630-0170-50B9-C7E8CE787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AFCAD-B1ED-3D5A-0B94-89B13C4F7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5610F-2834-75BD-193B-E03D289BB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781E9-2F0E-0701-D1BF-06BE595EF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109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56698-5C9B-280A-E655-DA9407D8A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0E632-9183-E0F4-BFBE-E0F95D7F9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C8ADE-4EE5-54FC-2334-64390B0C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2ED68-0A5C-9E74-19DF-40C2D059B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3C953-21F0-A666-A109-8FB60851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886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CB4A-D95A-A7E4-01AE-69719781D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66F7E-E481-AA91-8F5B-CA2274946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44C89-944A-CA89-1204-2B2C130E5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9C347-34CB-EE94-FA35-8BA9A397F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4C044-9BDF-2B26-62E6-C58C82A6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213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28572-694D-8494-FF63-487968729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93930-B303-119D-BA37-8EA9AFA92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262B0-FE3D-D32A-0844-F150D8146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53EB6-385E-BAF1-8450-C0B7ACF90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251D18-AF88-E173-EF0B-6650178C3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DD4F4-F4DB-2C5C-DB47-A60DFBC9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44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3028E-8887-10C2-9F66-5D5A84199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13489-9402-61D5-A0BA-5AE40F1A3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A5CE9-1D9F-0A60-2B78-FE5562F0E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0A9CC5-9E39-225F-E926-55A1C3C935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B65358-FDB1-737F-BDE8-9D94AA024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3B780F-EA2E-7330-9DB2-280D32EA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DDE5F6-6016-CDEC-2D52-ECC52635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7BF6AF-9272-9349-9587-AF0CC41EB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0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A10B-089D-FBDF-2977-EB15264F1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5AE9C8-7027-1ACE-E9D2-A2763733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79894-0AC8-F51F-FAC0-888E34B5D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8C9B5-9B97-71F3-8EDA-99FD91983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503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C8E161-02C9-35DF-013B-A003C8C12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241E6A-6762-4C42-E9FE-D3A589AD1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B5BF1-9F96-0A3F-065A-3D52B0A2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379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BC018-2278-0E3A-D7FF-5164301E6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C2E9E-28A9-0BCC-F4AE-E2D677039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55752-5890-B689-9DB0-7561DA056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09D78-5EFD-9BC6-861A-5B63CDC4C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C3FBE-A3F7-A4F9-4A28-6C833F54C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288DA-EC5B-40ED-0E36-C6ADD040C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829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0661C-B521-B9B4-6F12-6913B8AA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F4ED0-E2AB-2E16-6AC8-D871EE0BF7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3E8C7-6930-55F1-B2A7-89D706D76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B40CA-64E6-D053-A1BB-78A74CDB1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2FF93-E316-3399-79F8-C04FEF72B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3C711-F43E-2F4C-0691-5301C03F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771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ADB60-B9DD-C386-57C9-977DFB76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4AE70-18A3-864D-63EE-E96B92B25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395D3-5C7F-D31B-6A68-FEB26BA50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AC35A-859D-72C4-EB10-70A18F7D3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524E9-648E-828A-5452-F0E711F22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080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6E09E7-695E-3180-DB39-01D1EFD8F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2A1C5-09FC-6A31-3458-C8E1A080B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FCE44-8075-7653-38F2-E0A6F20F4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A5C9C-2F10-C3F7-2D8F-ECB244919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925AC-1B99-67B0-8198-531E1367C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013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5B26C3-6671-B572-54ED-CCE15432B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C6ADE-5C46-048D-AA69-EB15C2E42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58496-6763-E0B8-DDD8-23CB0197D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BCE17B-F296-47A7-8AF7-7D29DE3990A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58641-B829-6766-8B11-70379D5F4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7789F-B3CE-4FCD-9D69-C334F2010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023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3490" y="3108325"/>
            <a:ext cx="9144000" cy="320675"/>
          </a:xfrm>
        </p:spPr>
        <p:txBody>
          <a:bodyPr>
            <a:normAutofit fontScale="90000"/>
          </a:bodyPr>
          <a:lstStyle/>
          <a:p>
            <a:b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34632" y="4776608"/>
            <a:ext cx="4424475" cy="2202111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NANDHINI SRI V(192521344)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KEERTHNA L(192521062)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VAISHNAVI S(192521313)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5601" y="4917336"/>
            <a:ext cx="4765675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by,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RAJARAM 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5304" y="3429000"/>
            <a:ext cx="11553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I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CSA1522</a:t>
            </a:r>
            <a:r>
              <a:rPr lang="en-I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–Cloud Computing And Big Data Analytics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3" y="139760"/>
            <a:ext cx="9635613" cy="106934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1435510" y="1878965"/>
            <a:ext cx="9762080" cy="1291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API Gateway For Secure Multi-cloud</a:t>
            </a:r>
          </a:p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Access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AADC6D-0C2C-C691-B82A-4FA84BFC0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61872" cy="1285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3D5E61-0055-F87C-73A7-86CE98267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7748" y="80827"/>
            <a:ext cx="1136904" cy="108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-39819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2E1EF95-F3A2-826E-4AB5-3A766E1004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821248"/>
            <a:ext cx="10332474" cy="420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applications often use services deployed across multiple cloud platforms.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multiple cloud services directly can create security and management challenges.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 API Gateway provides a centralized entry point for client applications.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manages API requests, authentication, authorization, routing, and security.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gateway securely routes requests to appropriate cloud backends.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provide secure, controlled, and reliable access to multi-cloud applications.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6" descr="How to Build an Online Food Ordering System [Complete Guide]"/>
          <p:cNvSpPr>
            <a:spLocks noChangeAspect="1" noChangeArrowheads="1"/>
          </p:cNvSpPr>
          <p:nvPr/>
        </p:nvSpPr>
        <p:spPr bwMode="auto">
          <a:xfrm>
            <a:off x="5820696" y="1384745"/>
            <a:ext cx="5034116" cy="321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9" name="AutoShape 8" descr="How to Build an Online Food Ordering System [Complete Guide]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6" name="AutoShape 2" descr="How to Build an Online Food Ordering System [Complete Guide]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DF7D77-3676-F5AC-4154-B8CF8E568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61872" cy="12857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6F0F55-DE61-5913-B21F-8D72CCD05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748" y="80827"/>
            <a:ext cx="1136904" cy="10842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1D826-6DDE-0D75-1F33-C4F4ABB5F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09993-945F-7B91-667F-3E4578B5F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Multi-cloud applications use services distributed across different cloud platforms.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access to multiple backend services increases security risks and complexity.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authentication separately for different cloud services is difficult.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requests and excessive API traffic can affect application security and performance.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cloud services may require different access methods and configurations.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and secure API gateway is required to control and manage multi-cloud application access.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A1611B-8E07-13E2-9DAB-0114FFA00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61872" cy="1285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B66146-F615-BA7E-829C-011531055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748" y="80827"/>
            <a:ext cx="1136904" cy="108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96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EDA45-4E15-F648-78FF-5913C2E99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0F714-69F1-3FF4-B799-CFEBC6A5D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374" y="538353"/>
            <a:ext cx="10487394" cy="673735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CD627C-29E0-9D6C-4692-6724040D8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61872" cy="1285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15EDDE-9CA3-1461-5F65-048BF7142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7748" y="80827"/>
            <a:ext cx="1136904" cy="10842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916B81-2DE6-3915-52C0-204F8523A5C5}"/>
              </a:ext>
            </a:extLst>
          </p:cNvPr>
          <p:cNvSpPr txBox="1"/>
          <p:nvPr/>
        </p:nvSpPr>
        <p:spPr>
          <a:xfrm>
            <a:off x="9129891" y="6407841"/>
            <a:ext cx="2517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Fig:2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677F424-CD0F-7CBD-CB4E-CA84DF9CFA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3924" y="1614640"/>
            <a:ext cx="9427083" cy="458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centralized Web API Gateway for multi-cloud applications.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authenticate and authorize users before accessing backend services.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securely route API requests to appropriate cloud platforms.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rate limiting to control excessive API requests.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protect backend services from unauthorized access.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monitor API requests, responses, and system activity.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secure and reliable access to multiple cloud-based services. </a:t>
            </a:r>
          </a:p>
        </p:txBody>
      </p:sp>
    </p:spTree>
    <p:extLst>
      <p:ext uri="{BB962C8B-B14F-4D97-AF65-F5344CB8AC3E}">
        <p14:creationId xmlns:p14="http://schemas.microsoft.com/office/powerpoint/2010/main" val="1205510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8E65-6AD7-631B-E209-3F7065834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72" y="-8338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REVEIW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F633A6-C342-1F37-4508-8FE52EB28E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4485318"/>
              </p:ext>
            </p:extLst>
          </p:nvPr>
        </p:nvGraphicFramePr>
        <p:xfrm>
          <a:off x="344423" y="1449959"/>
          <a:ext cx="11503153" cy="5212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949">
                  <a:extLst>
                    <a:ext uri="{9D8B030D-6E8A-4147-A177-3AD203B41FA5}">
                      <a16:colId xmlns:a16="http://schemas.microsoft.com/office/drawing/2014/main" val="13509737"/>
                    </a:ext>
                  </a:extLst>
                </a:gridCol>
                <a:gridCol w="2303301">
                  <a:extLst>
                    <a:ext uri="{9D8B030D-6E8A-4147-A177-3AD203B41FA5}">
                      <a16:colId xmlns:a16="http://schemas.microsoft.com/office/drawing/2014/main" val="3894235546"/>
                    </a:ext>
                  </a:extLst>
                </a:gridCol>
                <a:gridCol w="2303301">
                  <a:extLst>
                    <a:ext uri="{9D8B030D-6E8A-4147-A177-3AD203B41FA5}">
                      <a16:colId xmlns:a16="http://schemas.microsoft.com/office/drawing/2014/main" val="136909070"/>
                    </a:ext>
                  </a:extLst>
                </a:gridCol>
                <a:gridCol w="2303301">
                  <a:extLst>
                    <a:ext uri="{9D8B030D-6E8A-4147-A177-3AD203B41FA5}">
                      <a16:colId xmlns:a16="http://schemas.microsoft.com/office/drawing/2014/main" val="2445320687"/>
                    </a:ext>
                  </a:extLst>
                </a:gridCol>
                <a:gridCol w="2303301">
                  <a:extLst>
                    <a:ext uri="{9D8B030D-6E8A-4147-A177-3AD203B41FA5}">
                      <a16:colId xmlns:a16="http://schemas.microsoft.com/office/drawing/2014/main" val="2181208099"/>
                    </a:ext>
                  </a:extLst>
                </a:gridCol>
              </a:tblGrid>
              <a:tr h="67007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 Addressed by Our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4001494"/>
                  </a:ext>
                </a:extLst>
              </a:tr>
              <a:tr h="88488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Gateway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centralized API management and security mechanisms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multi-cloud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secure multi-cloud API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42451"/>
                  </a:ext>
                </a:extLst>
              </a:tr>
              <a:tr h="88488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 Trust API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Verifies users and requests before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implementation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authentication and authorization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034133"/>
                  </a:ext>
                </a:extLst>
              </a:tr>
              <a:tr h="88488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API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Manages APIs across cloud environments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security controls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routing, security and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429731"/>
                  </a:ext>
                </a:extLst>
              </a:tr>
              <a:tr h="88488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Rate Limiting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Controls excessive API requests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mainly on traffic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rate limiting with authentication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471998"/>
                  </a:ext>
                </a:extLst>
              </a:tr>
              <a:tr h="88488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Multi-Cloud Application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services across multiple clouds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management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 centralized gateway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52505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BC55C7F-C854-A285-CC4E-DB47F4313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61872" cy="12857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2FFF26-C7BD-EC80-9C29-730C2D8F0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748" y="80827"/>
            <a:ext cx="1136904" cy="108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31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0545" y="290861"/>
            <a:ext cx="8878529" cy="475614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S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4240" y="3799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G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30936" y="2317750"/>
            <a:ext cx="11271885" cy="2018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29FEF9-ACCE-24F9-3DFB-E83A09E3B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61872" cy="12857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9EE42F-1B49-E338-E562-71B334ACD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748" y="80827"/>
            <a:ext cx="1136904" cy="108426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775CDC-B327-99A6-08A0-0A414A518268}"/>
              </a:ext>
            </a:extLst>
          </p:cNvPr>
          <p:cNvSpPr/>
          <p:nvPr/>
        </p:nvSpPr>
        <p:spPr>
          <a:xfrm>
            <a:off x="447077" y="1965632"/>
            <a:ext cx="3264408" cy="140817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Request: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 API requests from authorized client applications.</a:t>
            </a:r>
          </a:p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DA1E506-350A-7416-7402-E23A4CDFDC71}"/>
              </a:ext>
            </a:extLst>
          </p:cNvPr>
          <p:cNvSpPr/>
          <p:nvPr/>
        </p:nvSpPr>
        <p:spPr>
          <a:xfrm>
            <a:off x="447077" y="4271201"/>
            <a:ext cx="3264408" cy="14081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Request Routing :</a:t>
            </a:r>
          </a:p>
          <a:p>
            <a:r>
              <a:rPr lang="en-US" dirty="0">
                <a:solidFill>
                  <a:schemeClr val="tx1"/>
                </a:solidFill>
              </a:rPr>
              <a:t>Identify the required backend service and route the request.</a:t>
            </a:r>
          </a:p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30F93A9-DB33-FCC1-F9E7-76BC34ADDB0A}"/>
              </a:ext>
            </a:extLst>
          </p:cNvPr>
          <p:cNvSpPr/>
          <p:nvPr/>
        </p:nvSpPr>
        <p:spPr>
          <a:xfrm>
            <a:off x="4334118" y="4271201"/>
            <a:ext cx="3264408" cy="140817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Multi-Cloud Integration :</a:t>
            </a:r>
          </a:p>
          <a:p>
            <a:r>
              <a:rPr lang="en-US" dirty="0">
                <a:solidFill>
                  <a:schemeClr val="tx1"/>
                </a:solidFill>
              </a:rPr>
              <a:t>Forward requests to the appropriate cloud backend.</a:t>
            </a:r>
          </a:p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17973F-4DB7-73DB-FAE8-D16CE324E4D4}"/>
              </a:ext>
            </a:extLst>
          </p:cNvPr>
          <p:cNvSpPr/>
          <p:nvPr/>
        </p:nvSpPr>
        <p:spPr>
          <a:xfrm>
            <a:off x="8366760" y="4303808"/>
            <a:ext cx="3264408" cy="14081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Monitoring &amp; Logging :</a:t>
            </a:r>
          </a:p>
          <a:p>
            <a:r>
              <a:rPr lang="en-US" dirty="0">
                <a:solidFill>
                  <a:schemeClr val="tx1"/>
                </a:solidFill>
              </a:rPr>
              <a:t>Record API requests, responses, errors, and system activity.</a:t>
            </a:r>
          </a:p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425D77-C906-661D-F267-2BEB692E91CD}"/>
              </a:ext>
            </a:extLst>
          </p:cNvPr>
          <p:cNvSpPr/>
          <p:nvPr/>
        </p:nvSpPr>
        <p:spPr>
          <a:xfrm>
            <a:off x="8241792" y="1999738"/>
            <a:ext cx="3264408" cy="1408176"/>
          </a:xfrm>
          <a:prstGeom prst="roundRect">
            <a:avLst/>
          </a:prstGeom>
          <a:solidFill>
            <a:srgbClr val="BAC4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</a:rPr>
              <a:t>Rate Limiting :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Control the number of API requests from users or clients.</a:t>
            </a:r>
          </a:p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43558EA-C2C9-EF78-A33E-DDB15F7635D6}"/>
              </a:ext>
            </a:extLst>
          </p:cNvPr>
          <p:cNvSpPr/>
          <p:nvPr/>
        </p:nvSpPr>
        <p:spPr>
          <a:xfrm>
            <a:off x="4334118" y="1999738"/>
            <a:ext cx="3264408" cy="140817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Authentication &amp; Authorization :</a:t>
            </a:r>
          </a:p>
          <a:p>
            <a:r>
              <a:rPr lang="en-US" dirty="0">
                <a:solidFill>
                  <a:schemeClr val="tx1"/>
                </a:solidFill>
              </a:rPr>
              <a:t>Verify user identity and check access permissions.</a:t>
            </a:r>
          </a:p>
          <a:p>
            <a:pPr algn="ctr"/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6D1ACB4-B4E1-9AAF-4870-55B2CAD5A748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725201" y="2703826"/>
            <a:ext cx="608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C11CBF3-FFAB-D9C0-CA27-05308F05D152}"/>
              </a:ext>
            </a:extLst>
          </p:cNvPr>
          <p:cNvCxnSpPr>
            <a:stCxn id="13" idx="3"/>
            <a:endCxn id="12" idx="1"/>
          </p:cNvCxnSpPr>
          <p:nvPr/>
        </p:nvCxnSpPr>
        <p:spPr>
          <a:xfrm>
            <a:off x="7598526" y="2703826"/>
            <a:ext cx="6432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37E228B7-2DFE-1D3D-4A7C-9B0F186350B5}"/>
              </a:ext>
            </a:extLst>
          </p:cNvPr>
          <p:cNvCxnSpPr>
            <a:cxnSpLocks/>
            <a:stCxn id="12" idx="2"/>
          </p:cNvCxnSpPr>
          <p:nvPr/>
        </p:nvCxnSpPr>
        <p:spPr>
          <a:xfrm rot="5400000">
            <a:off x="5608264" y="-539804"/>
            <a:ext cx="318014" cy="82134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EDEF5D8-C49C-0B53-E961-F3042A49D7B1}"/>
              </a:ext>
            </a:extLst>
          </p:cNvPr>
          <p:cNvCxnSpPr/>
          <p:nvPr/>
        </p:nvCxnSpPr>
        <p:spPr>
          <a:xfrm>
            <a:off x="1660545" y="3725926"/>
            <a:ext cx="0" cy="579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B151F76-90C3-6201-5EA7-B3DEF3B8EB92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711485" y="4975289"/>
            <a:ext cx="6226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70F652D-4A38-CE87-B42C-1AB502989B46}"/>
              </a:ext>
            </a:extLst>
          </p:cNvPr>
          <p:cNvCxnSpPr>
            <a:stCxn id="10" idx="3"/>
          </p:cNvCxnSpPr>
          <p:nvPr/>
        </p:nvCxnSpPr>
        <p:spPr>
          <a:xfrm>
            <a:off x="7598526" y="4975289"/>
            <a:ext cx="7682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8DB8A-B27E-2D2D-0E7A-8737822F5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618" y="164754"/>
            <a:ext cx="9721646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FC8222-1A5E-33CA-576B-07C1E6EA4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47" y="1176026"/>
            <a:ext cx="10661904" cy="5443855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F05EBB-9A76-D638-148C-F2028D9AC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64" y="64017"/>
            <a:ext cx="1261872" cy="1285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FDB2BB-2A80-B14A-AB01-D654D4B67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3812" y="164754"/>
            <a:ext cx="1136904" cy="10842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0E43BA-16AC-0F4B-D255-445DFE588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6954" y="3190863"/>
            <a:ext cx="1778091" cy="4762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1C6A50-7EF6-9C29-51F8-31E8BE3788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3922" y="1111625"/>
            <a:ext cx="5390457" cy="47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231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41FB5-B4B0-2788-B2B8-2B5FB3A22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MODULES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30C62-BB90-1938-268B-BC2686CC9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Gateway &amp; Request Routing Module</a:t>
            </a:r>
          </a:p>
          <a:p>
            <a:pPr algn="just">
              <a:lnSpc>
                <a:spcPct val="2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Authentication &amp; Rate-Limiting Module</a:t>
            </a:r>
          </a:p>
          <a:p>
            <a:pPr algn="just">
              <a:lnSpc>
                <a:spcPct val="2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Multi-Cloud Backend Integration &amp; Monitoring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DD41F5-6C6D-65C2-5ACB-5AC8D640C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61872" cy="128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592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922CE-07D3-97ED-E0DA-B344D70EE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288" y="365125"/>
            <a:ext cx="9049512" cy="132556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API GATEWAY &amp; REQUEST ROUTING MODULE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7779A-70AC-E400-4077-366BC7769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281"/>
            <a:ext cx="1164336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single entry point for client applications. 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requests to the appropriate backend service. 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 direct backend endpoints from clients. </a:t>
            </a:r>
          </a:p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API request from client. 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request format and API endpoint. 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target cloud service. 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the request to the selected backend. 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the backend response to the client. </a:t>
            </a:r>
          </a:p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API Request</a:t>
            </a:r>
          </a:p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Routed API Request / Backend Response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4AC5CB-CFBA-0923-C50B-E231BE8ED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61872" cy="128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20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0DCCD-B0E0-2239-C125-292BC8CC4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37F2D-C05B-6742-DD82-C9E8A38B1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260F49-D47A-72CA-D9D4-F6C83DCD8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61872" cy="1285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B124C5-DED0-FC46-3845-956A7F1E1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748" y="16819"/>
            <a:ext cx="1136904" cy="108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78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13F08-4EA3-370C-CC89-1580590B3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AUTHENTICATION &amp; RATE-LIMITING MODULE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FB131-76B3-3DF7-E12F-868591DFD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Verify the identity of API users. 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Control excessive API traffic.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Improve overall API security and availability.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Receive API request.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Allow or reject the request.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Forward valid requests to the routing module.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API Request + Authentication Credentials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Authenticated &amp; Rate-Limited Request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14A438-F284-B3A2-B31F-0BBF82FFF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61872" cy="1285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7B8606-D59A-2CF5-A22E-9040B9732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748" y="80827"/>
            <a:ext cx="1136904" cy="108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19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4545-1CC9-4DC7-7C80-0775F3F91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33E08-119B-3754-00D7-2AB1D310C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EF7B55-D40A-1222-6C1F-49AD865E9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8" y="0"/>
            <a:ext cx="1261872" cy="1285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E14287-37E8-BE76-6581-F0F263593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748" y="80827"/>
            <a:ext cx="1136904" cy="108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805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B3759-4675-CF3E-45ED-D2DAF7C58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1348456"/>
            <a:ext cx="10515600" cy="185797"/>
          </a:xfrm>
        </p:spPr>
        <p:txBody>
          <a:bodyPr>
            <a:normAutofit fontScale="90000"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3: MULTI-CLOUD BACKEND INTEGRATION &amp; MONITORING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7FA169-0243-A3F8-FA5D-B1A4A29E6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61872" cy="1285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C69E95-EC17-C9E5-CB50-92EC32E00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748" y="80827"/>
            <a:ext cx="1136904" cy="1084269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D269217-3225-3DF1-79ED-5E8397EBC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840" y="1385031"/>
            <a:ext cx="915314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3: MULTI-CLOUD BACKEND INTEGRATION &amp;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 the gateway with multiple cloud backend services.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 errors and system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logs for security and troubleshooting.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Receive authorized request from Module 2.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 API activity and performance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response to the client.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Authenticated API Request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 Response → Monitoring Logs</a:t>
            </a:r>
          </a:p>
        </p:txBody>
      </p:sp>
    </p:spTree>
    <p:extLst>
      <p:ext uri="{BB962C8B-B14F-4D97-AF65-F5344CB8AC3E}">
        <p14:creationId xmlns:p14="http://schemas.microsoft.com/office/powerpoint/2010/main" val="2406906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D9B094-559C-93B9-7689-F4B965C41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64" y="64017"/>
            <a:ext cx="1261872" cy="1285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6F9131-362B-BE3D-6925-42CAA29D0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748" y="80827"/>
            <a:ext cx="1136904" cy="10842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47BCAA-5F5C-D8AB-CDDB-66EB47547A8A}"/>
              </a:ext>
            </a:extLst>
          </p:cNvPr>
          <p:cNvSpPr txBox="1"/>
          <p:nvPr/>
        </p:nvSpPr>
        <p:spPr>
          <a:xfrm>
            <a:off x="4326194" y="643160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Fig:5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2ED4D-E971-6EDF-C4D8-BA9407292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1140"/>
            <a:ext cx="10515600" cy="4351338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8EF639F-3650-6804-61DC-0CEFC5AA9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136" y="169797"/>
            <a:ext cx="10065774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: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925984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0D5FB-7B86-1846-F20C-BBE88114C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136" y="262130"/>
            <a:ext cx="9297187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7E899-2BE7-938A-87D3-99C732B3F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 centralized entry point for multi-cloud applications.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requests are authenticated and authorized before reaching backend services.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limiting helps control excessive API traffic.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gateway securely routes requests to the appropriate cloud backend.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cloud services can be accessed through a unified API interface.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and logging provide visibility into API activity and errors.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architecture improves security, manageability, and control of multi-cloud API access.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1A9AC5-3EF3-F13C-AC25-968D92C38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64" y="64017"/>
            <a:ext cx="1261872" cy="1285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0BE4D0-505C-7CFA-18DA-5D0EB1824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3812" y="164754"/>
            <a:ext cx="1136904" cy="108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60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C7AC-6820-B46C-EE77-F2F485A2C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813" y="44107"/>
            <a:ext cx="9110374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LIMITATIONS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F4F2EC-0070-7D08-49FE-630996078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33155" cy="4351338"/>
          </a:xfrm>
        </p:spPr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APIs across multiple cloud platforms can increase system complexity.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failures may affect communication between the gateway and cloud services.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Improper authentication configuration can create security vulnerabilities.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Rate-limit settings must be carefully configured to avoid blocking legitimate users.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large numbers of API requests can increase storage requirements.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 availability and configuration differences may affect integration.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implementation may support only selected cloud platforms and services.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9531B0-8AC2-9089-53BB-5F53A8739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64" y="64017"/>
            <a:ext cx="1261872" cy="12857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9077CF-1E46-23CF-3E26-D59135E09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748" y="80827"/>
            <a:ext cx="1136904" cy="108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061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BCADC-8BFA-D373-5921-B875848CC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FB064-7C86-5297-7F25-D3F564F7A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679"/>
            <a:ext cx="10515600" cy="1028065"/>
          </a:xfrm>
        </p:spPr>
        <p:txBody>
          <a:bodyPr/>
          <a:lstStyle/>
          <a:p>
            <a:pPr algn="ctr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C0E0E9D-B473-1E53-BC5C-62AD8D1D6F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523760"/>
            <a:ext cx="10515600" cy="4331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just"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067857-973C-38FE-669C-672C1D3AC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61872" cy="12857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CD1E19-906F-C731-64F9-F9DAAD27F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748" y="80827"/>
            <a:ext cx="1136904" cy="10842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911A27-B4A3-2328-713F-4C122DFFA3AB}"/>
              </a:ext>
            </a:extLst>
          </p:cNvPr>
          <p:cNvSpPr txBox="1"/>
          <p:nvPr/>
        </p:nvSpPr>
        <p:spPr>
          <a:xfrm>
            <a:off x="1261872" y="1876223"/>
            <a:ext cx="10091927" cy="362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more cloud providers and hybrid cloud environments.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AI to detect security threats and suspicious API traffic.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serverless and microservices-based applications.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performance with advanced load balancing and caching.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real-time monitoring and predictive analytics.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security with Zero Trust architecture and automated threat response. </a:t>
            </a:r>
          </a:p>
        </p:txBody>
      </p:sp>
    </p:spTree>
    <p:extLst>
      <p:ext uri="{BB962C8B-B14F-4D97-AF65-F5344CB8AC3E}">
        <p14:creationId xmlns:p14="http://schemas.microsoft.com/office/powerpoint/2010/main" val="4160549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57679"/>
            <a:ext cx="10515600" cy="1028065"/>
          </a:xfrm>
        </p:spPr>
        <p:txBody>
          <a:bodyPr/>
          <a:lstStyle/>
          <a:p>
            <a:pPr algn="ctr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2E9AA3-39BA-E46A-1200-2724601A4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61872" cy="1285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B1FBCA-74AB-72B4-8453-F2EAD7D7C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748" y="80827"/>
            <a:ext cx="1136904" cy="108426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9F78433-FCC1-197A-DCA8-074A73B745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0826" y="2217684"/>
            <a:ext cx="9242425" cy="3744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secure API Gateway enables safe access to multi-cloud applications.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API management improves security and efficiency.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better scalability, reliability, and performance. 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and encryption protect APIs from unauthorized access.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simplifies cloud integration and supports future expansion.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885A8-5485-EB7E-E4D5-32DDD353C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67452" cy="87374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09D779-E309-E303-E1DF-2F2DC1027E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1375" y="1223748"/>
            <a:ext cx="11037345" cy="5201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 err="1"/>
              <a:t>John.T</a:t>
            </a:r>
            <a:r>
              <a:rPr lang="en-US" sz="1600" dirty="0"/>
              <a:t>, T., 2024. Natural language processing (NLP) web API in social media. </a:t>
            </a:r>
            <a:r>
              <a:rPr lang="en-US" sz="1600" i="1" dirty="0"/>
              <a:t>International Journal of Computing and Engineering</a:t>
            </a:r>
            <a:r>
              <a:rPr lang="en-US" sz="1600" dirty="0"/>
              <a:t>, </a:t>
            </a:r>
            <a:r>
              <a:rPr lang="en-US" sz="1600" i="1" dirty="0"/>
              <a:t>6</a:t>
            </a:r>
            <a:r>
              <a:rPr lang="en-US" sz="1600" dirty="0"/>
              <a:t>(2), pp.35-48.Krugmann, J. O., &amp; Hartmann, J. (2024). ) web API in the age of generative AI. </a:t>
            </a:r>
            <a:r>
              <a:rPr lang="en-US" sz="1600" i="1" dirty="0"/>
              <a:t>Customer Needs and Solutions, 11</a:t>
            </a:r>
            <a:r>
              <a:rPr lang="en-US" sz="1600" dirty="0"/>
              <a:t>(1), 3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Zhang, W., Deng, Y., Liu, B., Pan, S. and Bing, L., 2024, June. ) web API in the era of large language models: A reality check. In </a:t>
            </a:r>
            <a:r>
              <a:rPr lang="en-US" sz="1600" i="1" dirty="0"/>
              <a:t>Findings of the association for computational linguistics: NAACL 2024</a:t>
            </a:r>
            <a:r>
              <a:rPr lang="en-US" sz="1600" dirty="0"/>
              <a:t> (pp. 3881-3906).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600" dirty="0"/>
              <a:t>Miah, M.S.U., Kabir, M.M., Sarwar, T.B., Safran, M., </a:t>
            </a:r>
            <a:r>
              <a:rPr lang="en-IN" sz="1600" dirty="0" err="1"/>
              <a:t>Alfarhood</a:t>
            </a:r>
            <a:r>
              <a:rPr lang="en-IN" sz="1600" dirty="0"/>
              <a:t>, S. and </a:t>
            </a:r>
            <a:r>
              <a:rPr lang="en-IN" sz="1600" dirty="0" err="1"/>
              <a:t>Mridha</a:t>
            </a:r>
            <a:r>
              <a:rPr lang="en-IN" sz="1600" dirty="0"/>
              <a:t>, M.F., 2024. A multimodal approach to cross-lingual </a:t>
            </a:r>
            <a:r>
              <a:rPr lang="en-US" sz="1600" dirty="0"/>
              <a:t>) web API  </a:t>
            </a:r>
            <a:r>
              <a:rPr lang="en-IN" sz="1600" dirty="0"/>
              <a:t>with ensemble of transformer and LLM. </a:t>
            </a:r>
            <a:r>
              <a:rPr lang="en-IN" sz="1600" i="1" dirty="0"/>
              <a:t>Scientific Reports</a:t>
            </a:r>
            <a:r>
              <a:rPr lang="en-IN" sz="1600" dirty="0"/>
              <a:t>, </a:t>
            </a:r>
            <a:r>
              <a:rPr lang="en-IN" sz="1600" i="1" dirty="0"/>
              <a:t>14</a:t>
            </a:r>
            <a:r>
              <a:rPr lang="en-IN" sz="1600" dirty="0"/>
              <a:t>(1), p.9603.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dirty="0"/>
              <a:t>Geni, L., 2023. </a:t>
            </a:r>
            <a:r>
              <a:rPr lang="en-US" sz="1600" dirty="0"/>
              <a:t>) web API </a:t>
            </a:r>
            <a:r>
              <a:rPr lang="en-IN" sz="1600" dirty="0"/>
              <a:t>of tweets before the 2024 elections in Indonesia using BERT language </a:t>
            </a:r>
            <a:r>
              <a:rPr lang="en-IN" sz="1600" dirty="0" err="1"/>
              <a:t>models.</a:t>
            </a:r>
            <a:r>
              <a:rPr lang="en-IN" sz="1600" i="1" dirty="0" err="1"/>
              <a:t>Jurnal</a:t>
            </a:r>
            <a:r>
              <a:rPr lang="en-IN" sz="1600" i="1" dirty="0"/>
              <a:t> </a:t>
            </a:r>
            <a:r>
              <a:rPr lang="en-IN" sz="1600" i="1" dirty="0" err="1"/>
              <a:t>Ilmiah</a:t>
            </a:r>
            <a:r>
              <a:rPr lang="en-IN" sz="1600" i="1" dirty="0"/>
              <a:t> Teknik </a:t>
            </a:r>
            <a:r>
              <a:rPr lang="en-IN" sz="1600" i="1" dirty="0" err="1"/>
              <a:t>Elektro</a:t>
            </a:r>
            <a:r>
              <a:rPr lang="en-IN" sz="1600" i="1" dirty="0"/>
              <a:t> </a:t>
            </a:r>
            <a:r>
              <a:rPr lang="en-IN" sz="1600" i="1" dirty="0" err="1"/>
              <a:t>Komputer</a:t>
            </a:r>
            <a:r>
              <a:rPr lang="en-IN" sz="1600" i="1" dirty="0"/>
              <a:t> dan </a:t>
            </a:r>
            <a:r>
              <a:rPr lang="en-IN" sz="1600" i="1" dirty="0" err="1"/>
              <a:t>Informatika</a:t>
            </a:r>
            <a:r>
              <a:rPr lang="en-IN" sz="1600" dirty="0"/>
              <a:t>.</a:t>
            </a:r>
            <a:br>
              <a:rPr lang="en-US" sz="1600" dirty="0"/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EF6A6-25FF-3864-33A6-86D5A512C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096" y="138902"/>
            <a:ext cx="1136904" cy="10842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32381A-E5C4-E0D0-F4E3-1D15D2089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8" y="38164"/>
            <a:ext cx="1261872" cy="128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44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9048" y="1581687"/>
            <a:ext cx="9144000" cy="2387600"/>
          </a:xfrm>
        </p:spPr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781063-0DEF-08A5-8B84-79551FD7A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" y="80827"/>
            <a:ext cx="1261872" cy="12857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433AFC-AE90-18D0-BDE3-2390ECA56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748" y="80827"/>
            <a:ext cx="1136904" cy="10842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1117</TotalTime>
  <Words>1216</Words>
  <Application>Microsoft Office PowerPoint</Application>
  <PresentationFormat>Widescreen</PresentationFormat>
  <Paragraphs>175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Times New Roman</vt:lpstr>
      <vt:lpstr>Office Theme</vt:lpstr>
      <vt:lpstr>       </vt:lpstr>
      <vt:lpstr>INTRODUCTION</vt:lpstr>
      <vt:lpstr>PROBLEM STATEMENT</vt:lpstr>
      <vt:lpstr>OBJECTIVES </vt:lpstr>
      <vt:lpstr>LITERATURE REVEIW</vt:lpstr>
      <vt:lpstr>METHODOLOGY </vt:lpstr>
      <vt:lpstr>SYSTEM ARCHITECTURE</vt:lpstr>
      <vt:lpstr>PROJECT MODULES </vt:lpstr>
      <vt:lpstr>MODULE 1: API GATEWAY &amp; REQUEST ROUTING MODULE </vt:lpstr>
      <vt:lpstr>MODULE 1 IMPLEMENTATION</vt:lpstr>
      <vt:lpstr>MODULE 2: AUTHENTICATION &amp; RATE-LIMITING MODULE </vt:lpstr>
      <vt:lpstr>MODULE 2: IMPLEMENTATION</vt:lpstr>
      <vt:lpstr>MODULE 3: MULTI-CLOUD BACKEND INTEGRATION &amp; MONITORING  </vt:lpstr>
      <vt:lpstr>MODULE 3 : IMPLEMENTATION</vt:lpstr>
      <vt:lpstr>RESULTS AND DISCUSSION</vt:lpstr>
      <vt:lpstr>CHALLENGES AND LIMITATIONS</vt:lpstr>
      <vt:lpstr>FUTURE SCOPE</vt:lpstr>
      <vt:lpstr>CONCLUSION</vt:lpstr>
      <vt:lpstr>REFERENCES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Image Encryption and Decryption Using Symmetric Key Cryptography and Pixel Manipulation  Team 08</dc:title>
  <dc:creator>Sanjay C</dc:creator>
  <cp:lastModifiedBy>nandhini sri</cp:lastModifiedBy>
  <cp:revision>43</cp:revision>
  <dcterms:created xsi:type="dcterms:W3CDTF">2025-08-10T15:31:00Z</dcterms:created>
  <dcterms:modified xsi:type="dcterms:W3CDTF">2026-08-28T16:48:24Z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2BDA5BD963D74DC4A38147708B8DC6B0_13</vt:lpwstr>
  </property>
  <property fmtid="{D5CDD505-2E9C-101B-9397-08002B2CF9AE}" pid="3" name="KSOProductBuildVer">
    <vt:lpwstr>1033-12.2.0.23196</vt:lpwstr>
  </property>
</Properties>
</file>